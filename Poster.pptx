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9359900" cy="14859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95889" algn="l" rtl="0" fontAlgn="base">
      <a:spcBef>
        <a:spcPct val="0"/>
      </a:spcBef>
      <a:spcAft>
        <a:spcPct val="0"/>
      </a:spcAft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791779" algn="l" rtl="0" fontAlgn="base">
      <a:spcBef>
        <a:spcPct val="0"/>
      </a:spcBef>
      <a:spcAft>
        <a:spcPct val="0"/>
      </a:spcAft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187668" algn="l" rtl="0" fontAlgn="base">
      <a:spcBef>
        <a:spcPct val="0"/>
      </a:spcBef>
      <a:spcAft>
        <a:spcPct val="0"/>
      </a:spcAft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583558" algn="l" rtl="0" fontAlgn="base">
      <a:spcBef>
        <a:spcPct val="0"/>
      </a:spcBef>
      <a:spcAft>
        <a:spcPct val="0"/>
      </a:spcAft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979447" algn="l" defTabSz="791779" rtl="0" eaLnBrk="1" latinLnBrk="0" hangingPunct="1"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375337" algn="l" defTabSz="791779" rtl="0" eaLnBrk="1" latinLnBrk="0" hangingPunct="1"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771226" algn="l" defTabSz="791779" rtl="0" eaLnBrk="1" latinLnBrk="0" hangingPunct="1"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167116" algn="l" defTabSz="791779" rtl="0" eaLnBrk="1" latinLnBrk="0" hangingPunct="1">
      <a:defRPr sz="8659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6CD"/>
    <a:srgbClr val="009A44"/>
    <a:srgbClr val="F6F2EE"/>
    <a:srgbClr val="F3EEE9"/>
    <a:srgbClr val="E0D2C6"/>
    <a:srgbClr val="006600"/>
    <a:srgbClr val="E9FFE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5238" autoAdjust="0"/>
  </p:normalViewPr>
  <p:slideViewPr>
    <p:cSldViewPr>
      <p:cViewPr varScale="1">
        <p:scale>
          <a:sx n="17" d="100"/>
          <a:sy n="17" d="100"/>
        </p:scale>
        <p:origin x="1522" y="82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69" y="10225669"/>
            <a:ext cx="37308064" cy="70559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36" y="18653203"/>
            <a:ext cx="30724929" cy="841359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738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65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2470"/>
            <a:ext cx="37308064" cy="653879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1570"/>
            <a:ext cx="37308064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379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833" y="7680403"/>
            <a:ext cx="4616903" cy="216250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2365" y="7680403"/>
            <a:ext cx="4618264" cy="216250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968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8632"/>
            <a:ext cx="39501536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33" y="7368168"/>
            <a:ext cx="19392900" cy="30707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33" y="10438936"/>
            <a:ext cx="19392900" cy="1896683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4" y="7368168"/>
            <a:ext cx="19399704" cy="30707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4" y="10438936"/>
            <a:ext cx="19399704" cy="1896683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01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671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0269"/>
            <a:ext cx="14439900" cy="55783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8" y="1310268"/>
            <a:ext cx="24536400" cy="280954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3" y="6888666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94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36" y="23042601"/>
            <a:ext cx="26335264" cy="27208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36" y="2941134"/>
            <a:ext cx="26335264" cy="197515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36" y="25763499"/>
            <a:ext cx="26335264" cy="38625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61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99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664" y="1318632"/>
            <a:ext cx="9874704" cy="279867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833" y="1318632"/>
            <a:ext cx="29496203" cy="27986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399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4833" y="1318632"/>
            <a:ext cx="39501536" cy="28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4833" y="7680403"/>
            <a:ext cx="9365796" cy="2162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6834" tIns="253417" rIns="506834" bIns="2534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068888" rtl="0" eaLnBrk="0" fontAlgn="base" hangingPunct="0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5068888" rtl="0" eaLnBrk="0" fontAlgn="base" hangingPunct="0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2pPr>
      <a:lvl3pPr algn="ctr" defTabSz="5068888" rtl="0" eaLnBrk="0" fontAlgn="base" hangingPunct="0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3pPr>
      <a:lvl4pPr algn="ctr" defTabSz="5068888" rtl="0" eaLnBrk="0" fontAlgn="base" hangingPunct="0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4pPr>
      <a:lvl5pPr algn="ctr" defTabSz="5068888" rtl="0" eaLnBrk="0" fontAlgn="base" hangingPunct="0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5pPr>
      <a:lvl6pPr marL="457200" algn="ctr" defTabSz="5068888" rtl="0" fontAlgn="base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6pPr>
      <a:lvl7pPr marL="914400" algn="ctr" defTabSz="5068888" rtl="0" fontAlgn="base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7pPr>
      <a:lvl8pPr marL="1371600" algn="ctr" defTabSz="5068888" rtl="0" fontAlgn="base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8pPr>
      <a:lvl9pPr marL="1828800" algn="ctr" defTabSz="5068888" rtl="0" fontAlgn="base">
        <a:spcBef>
          <a:spcPct val="0"/>
        </a:spcBef>
        <a:spcAft>
          <a:spcPct val="0"/>
        </a:spcAft>
        <a:defRPr sz="10000" b="1">
          <a:solidFill>
            <a:schemeClr val="tx2"/>
          </a:solidFill>
          <a:latin typeface="Goudy Old Style" pitchFamily="18" charset="0"/>
        </a:defRPr>
      </a:lvl9pPr>
    </p:titleStyle>
    <p:bodyStyle>
      <a:lvl1pPr marL="376238" indent="-376238" algn="l" defTabSz="5068888" rtl="0" eaLnBrk="0" fontAlgn="base" hangingPunct="0">
        <a:spcBef>
          <a:spcPct val="20000"/>
        </a:spcBef>
        <a:spcAft>
          <a:spcPct val="0"/>
        </a:spcAft>
        <a:buChar char="•"/>
        <a:defRPr sz="33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23863" algn="l" defTabSz="5068888" rtl="0" eaLnBrk="0" fontAlgn="base" hangingPunct="0">
        <a:spcBef>
          <a:spcPct val="20000"/>
        </a:spcBef>
        <a:spcAft>
          <a:spcPct val="0"/>
        </a:spcAft>
        <a:buChar char="–"/>
        <a:defRPr sz="3300">
          <a:solidFill>
            <a:schemeClr val="tx1"/>
          </a:solidFill>
          <a:latin typeface="+mn-lt"/>
        </a:defRPr>
      </a:lvl2pPr>
      <a:lvl3pPr marL="1560513" indent="-531813" algn="l" defTabSz="5068888" rtl="0" eaLnBrk="0" fontAlgn="base" hangingPunct="0">
        <a:spcBef>
          <a:spcPct val="20000"/>
        </a:spcBef>
        <a:spcAft>
          <a:spcPct val="0"/>
        </a:spcAft>
        <a:buChar char="•"/>
        <a:defRPr sz="3300">
          <a:solidFill>
            <a:schemeClr val="tx1"/>
          </a:solidFill>
          <a:latin typeface="+mn-lt"/>
        </a:defRPr>
      </a:lvl3pPr>
      <a:lvl4pPr marL="2151063" indent="-476250" algn="l" defTabSz="5068888" rtl="0" eaLnBrk="0" fontAlgn="base" hangingPunct="0">
        <a:spcBef>
          <a:spcPct val="20000"/>
        </a:spcBef>
        <a:spcAft>
          <a:spcPct val="0"/>
        </a:spcAft>
        <a:buChar char="–"/>
        <a:defRPr sz="3300">
          <a:solidFill>
            <a:schemeClr val="tx1"/>
          </a:solidFill>
          <a:latin typeface="+mn-lt"/>
        </a:defRPr>
      </a:lvl4pPr>
      <a:lvl5pPr marL="2851150" indent="-585788" algn="l" defTabSz="5068888" rtl="0" eaLnBrk="0" fontAlgn="base" hangingPunct="0">
        <a:spcBef>
          <a:spcPct val="20000"/>
        </a:spcBef>
        <a:spcAft>
          <a:spcPct val="0"/>
        </a:spcAft>
        <a:buChar char="»"/>
        <a:defRPr sz="3300">
          <a:solidFill>
            <a:schemeClr val="tx1"/>
          </a:solidFill>
          <a:latin typeface="+mn-lt"/>
        </a:defRPr>
      </a:lvl5pPr>
      <a:lvl6pPr marL="3308350" indent="-585788" algn="l" defTabSz="5068888" rtl="0" fontAlgn="base">
        <a:spcBef>
          <a:spcPct val="20000"/>
        </a:spcBef>
        <a:spcAft>
          <a:spcPct val="0"/>
        </a:spcAft>
        <a:buChar char="»"/>
        <a:defRPr sz="3300">
          <a:solidFill>
            <a:schemeClr val="tx1"/>
          </a:solidFill>
          <a:latin typeface="+mn-lt"/>
        </a:defRPr>
      </a:lvl6pPr>
      <a:lvl7pPr marL="3765550" indent="-585788" algn="l" defTabSz="5068888" rtl="0" fontAlgn="base">
        <a:spcBef>
          <a:spcPct val="20000"/>
        </a:spcBef>
        <a:spcAft>
          <a:spcPct val="0"/>
        </a:spcAft>
        <a:buChar char="»"/>
        <a:defRPr sz="3300">
          <a:solidFill>
            <a:schemeClr val="tx1"/>
          </a:solidFill>
          <a:latin typeface="+mn-lt"/>
        </a:defRPr>
      </a:lvl7pPr>
      <a:lvl8pPr marL="4222750" indent="-585788" algn="l" defTabSz="5068888" rtl="0" fontAlgn="base">
        <a:spcBef>
          <a:spcPct val="20000"/>
        </a:spcBef>
        <a:spcAft>
          <a:spcPct val="0"/>
        </a:spcAft>
        <a:buChar char="»"/>
        <a:defRPr sz="3300">
          <a:solidFill>
            <a:schemeClr val="tx1"/>
          </a:solidFill>
          <a:latin typeface="+mn-lt"/>
        </a:defRPr>
      </a:lvl8pPr>
      <a:lvl9pPr marL="4679950" indent="-585788" algn="l" defTabSz="5068888" rtl="0" fontAlgn="base">
        <a:spcBef>
          <a:spcPct val="20000"/>
        </a:spcBef>
        <a:spcAft>
          <a:spcPct val="0"/>
        </a:spcAft>
        <a:buChar char="»"/>
        <a:defRPr sz="3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4"/>
          <p:cNvSpPr>
            <a:spLocks noChangeArrowheads="1"/>
          </p:cNvSpPr>
          <p:nvPr/>
        </p:nvSpPr>
        <p:spPr bwMode="auto">
          <a:xfrm>
            <a:off x="1295400" y="586317"/>
            <a:ext cx="372618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defTabSz="5068888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1pPr>
            <a:lvl2pPr marL="742950" indent="-285750" defTabSz="5068888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2pPr>
            <a:lvl3pPr marL="1143000" indent="-228600" defTabSz="5068888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3pPr>
            <a:lvl4pPr marL="1600200" indent="-228600" defTabSz="5068888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4pPr>
            <a:lvl5pPr marL="2057400" indent="-228600" defTabSz="5068888" eaLnBrk="0" hangingPunct="0">
              <a:spcBef>
                <a:spcPct val="20000"/>
              </a:spcBef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5pPr>
            <a:lvl6pPr marL="25146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6pPr>
            <a:lvl7pPr marL="29718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7pPr>
            <a:lvl8pPr marL="34290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8pPr>
            <a:lvl9pPr marL="38862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Sales Time Series Forecasting</a:t>
            </a:r>
          </a:p>
          <a:p>
            <a:pPr lvl="1" eaLnBrk="1" hangingPunct="1">
              <a:spcBef>
                <a:spcPct val="0"/>
              </a:spcBef>
              <a:buNone/>
            </a:pPr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List:</a:t>
            </a:r>
          </a:p>
          <a:p>
            <a:pPr lvl="2" eaLnBrk="1" hangingPunct="1">
              <a:spcBef>
                <a:spcPct val="0"/>
              </a:spcBef>
              <a:buNone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Bhanu Harsha </a:t>
            </a:r>
            <a:r>
              <a:rPr lang="en-US" alt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Yanamadala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0"/>
              </a:spcBef>
              <a:buNone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Kobe Zheng</a:t>
            </a:r>
          </a:p>
          <a:p>
            <a:pPr lvl="2" eaLnBrk="1" hangingPunct="1">
              <a:spcBef>
                <a:spcPct val="0"/>
              </a:spcBef>
              <a:buNone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Karthikeyan Sura</a:t>
            </a:r>
            <a:br>
              <a:rPr lang="en-US" altLang="en-US" sz="10000" b="1" dirty="0">
                <a:solidFill>
                  <a:srgbClr val="006600"/>
                </a:solidFill>
                <a:latin typeface="Goudy Old Style" panose="02020502050305020303" pitchFamily="18" charset="0"/>
              </a:rPr>
            </a:br>
            <a:endParaRPr lang="en-US" altLang="en-US" sz="2000" b="1" dirty="0">
              <a:solidFill>
                <a:srgbClr val="0066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2067" name="Rectangle 90"/>
          <p:cNvSpPr>
            <a:spLocks noChangeArrowheads="1"/>
          </p:cNvSpPr>
          <p:nvPr/>
        </p:nvSpPr>
        <p:spPr bwMode="auto">
          <a:xfrm>
            <a:off x="1371601" y="7083424"/>
            <a:ext cx="9690854" cy="1356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1pPr>
            <a:lvl2pPr marL="742950" indent="-28575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2pPr>
            <a:lvl3pPr marL="1143000" indent="-2286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3pPr>
            <a:lvl4pPr marL="1600200" indent="-22860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4pPr>
            <a:lvl5pPr marL="2057400" indent="-228600" defTabSz="5121275" eaLnBrk="0" hangingPunct="0">
              <a:spcBef>
                <a:spcPct val="20000"/>
              </a:spcBef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5pPr>
            <a:lvl6pPr marL="25146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6pPr>
            <a:lvl7pPr marL="29718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7pPr>
            <a:lvl8pPr marL="34290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8pPr>
            <a:lvl9pPr marL="38862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 daily unit sales for thousands of product families at "Corporación Favorita" stores in Ecuador.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includes complex seasonality (weekly/yearly), holiday effects, oil price fluctuations, and earthquake events affecting supply chains.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the Root Mean Squared Logarithmic Error (RMSLE) to accurately predict demand and optimize inventory management.</a:t>
            </a:r>
            <a:endParaRPr lang="en-US" altLang="en-US" sz="4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1" name="Rectangle 94"/>
          <p:cNvSpPr>
            <a:spLocks noChangeArrowheads="1"/>
          </p:cNvSpPr>
          <p:nvPr/>
        </p:nvSpPr>
        <p:spPr bwMode="auto">
          <a:xfrm>
            <a:off x="32915227" y="22754069"/>
            <a:ext cx="9604373" cy="419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defTabSz="5068888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1pPr>
            <a:lvl2pPr marL="742950" indent="-285750" defTabSz="5068888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2pPr>
            <a:lvl3pPr marL="1143000" indent="-228600" defTabSz="5068888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3pPr>
            <a:lvl4pPr marL="1600200" indent="-228600" defTabSz="5068888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4pPr>
            <a:lvl5pPr marL="2057400" indent="-228600" defTabSz="5068888" eaLnBrk="0" hangingPunct="0">
              <a:spcBef>
                <a:spcPct val="20000"/>
              </a:spcBef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5pPr>
            <a:lvl6pPr marL="25146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6pPr>
            <a:lvl7pPr marL="29718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7pPr>
            <a:lvl8pPr marL="34290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8pPr>
            <a:lvl9pPr marL="3886200" indent="-228600" defTabSz="50688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endParaRPr lang="en-US" altLang="en-US" sz="30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64429" y="5367046"/>
            <a:ext cx="9601200" cy="1216152"/>
            <a:chOff x="1464429" y="5367046"/>
            <a:chExt cx="9601200" cy="1216152"/>
          </a:xfrm>
        </p:grpSpPr>
        <p:sp>
          <p:nvSpPr>
            <p:cNvPr id="70" name="Rectangle 69"/>
            <p:cNvSpPr/>
            <p:nvPr/>
          </p:nvSpPr>
          <p:spPr bwMode="auto">
            <a:xfrm>
              <a:off x="1464429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>
                <a:latin typeface="Arial" charset="0"/>
              </a:endParaRPr>
            </a:p>
          </p:txBody>
        </p:sp>
        <p:sp>
          <p:nvSpPr>
            <p:cNvPr id="71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1959713" y="5367046"/>
            <a:ext cx="9694029" cy="1216152"/>
            <a:chOff x="1371600" y="5367046"/>
            <a:chExt cx="9694029" cy="1216152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371600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solidFill>
                <a:srgbClr val="A3C6C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>
                <a:latin typeface="Arial" charset="0"/>
              </a:endParaRPr>
            </a:p>
          </p:txBody>
        </p:sp>
        <p:sp>
          <p:nvSpPr>
            <p:cNvPr id="40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2547827" y="5306884"/>
            <a:ext cx="9694029" cy="1216152"/>
            <a:chOff x="1371600" y="5367046"/>
            <a:chExt cx="9694029" cy="1216152"/>
          </a:xfrm>
        </p:grpSpPr>
        <p:sp>
          <p:nvSpPr>
            <p:cNvPr id="42" name="Rectangle 41"/>
            <p:cNvSpPr/>
            <p:nvPr/>
          </p:nvSpPr>
          <p:spPr bwMode="auto">
            <a:xfrm>
              <a:off x="1371600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>
                <a:latin typeface="Arial" charset="0"/>
              </a:endParaRPr>
            </a:p>
          </p:txBody>
        </p:sp>
        <p:sp>
          <p:nvSpPr>
            <p:cNvPr id="43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Experiments &amp; Results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2918400" y="5306884"/>
            <a:ext cx="9694029" cy="1216152"/>
            <a:chOff x="1371600" y="5367046"/>
            <a:chExt cx="9694029" cy="1216152"/>
          </a:xfrm>
        </p:grpSpPr>
        <p:sp>
          <p:nvSpPr>
            <p:cNvPr id="45" name="Rectangle 44"/>
            <p:cNvSpPr/>
            <p:nvPr/>
          </p:nvSpPr>
          <p:spPr bwMode="auto">
            <a:xfrm>
              <a:off x="1371600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>
                <a:latin typeface="Arial" charset="0"/>
              </a:endParaRPr>
            </a:p>
          </p:txBody>
        </p:sp>
        <p:sp>
          <p:nvSpPr>
            <p:cNvPr id="46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</a:p>
          </p:txBody>
        </p:sp>
      </p:grpSp>
      <p:sp>
        <p:nvSpPr>
          <p:cNvPr id="47" name="Rectangle 88"/>
          <p:cNvSpPr>
            <a:spLocks noChangeArrowheads="1"/>
          </p:cNvSpPr>
          <p:nvPr/>
        </p:nvSpPr>
        <p:spPr bwMode="auto">
          <a:xfrm>
            <a:off x="1368426" y="22754069"/>
            <a:ext cx="9604374" cy="33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1pPr>
            <a:lvl2pPr marL="742950" indent="-28575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2pPr>
            <a:lvl3pPr marL="1143000" indent="-2286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3pPr>
            <a:lvl4pPr marL="1600200" indent="-22860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4pPr>
            <a:lvl5pPr marL="2057400" indent="-228600" defTabSz="5121275" eaLnBrk="0" hangingPunct="0">
              <a:spcBef>
                <a:spcPct val="20000"/>
              </a:spcBef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5pPr>
            <a:lvl6pPr marL="25146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6pPr>
            <a:lvl7pPr marL="29718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7pPr>
            <a:lvl8pPr marL="34290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8pPr>
            <a:lvl9pPr marL="38862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endParaRPr lang="en-US" altLang="en-US" sz="30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368426" y="20896507"/>
            <a:ext cx="9694029" cy="1216152"/>
            <a:chOff x="1371600" y="5367046"/>
            <a:chExt cx="9694029" cy="1216152"/>
          </a:xfrm>
        </p:grpSpPr>
        <p:sp>
          <p:nvSpPr>
            <p:cNvPr id="49" name="Rectangle 48"/>
            <p:cNvSpPr/>
            <p:nvPr/>
          </p:nvSpPr>
          <p:spPr bwMode="auto">
            <a:xfrm>
              <a:off x="1371600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 dirty="0">
                <a:latin typeface="Arial" charset="0"/>
              </a:endParaRPr>
            </a:p>
          </p:txBody>
        </p:sp>
        <p:sp>
          <p:nvSpPr>
            <p:cNvPr id="50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Goal of Project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2918400" y="20944039"/>
            <a:ext cx="9694029" cy="1216152"/>
            <a:chOff x="1371600" y="5367046"/>
            <a:chExt cx="9694029" cy="1216152"/>
          </a:xfrm>
        </p:grpSpPr>
        <p:sp>
          <p:nvSpPr>
            <p:cNvPr id="55" name="Rectangle 54"/>
            <p:cNvSpPr/>
            <p:nvPr/>
          </p:nvSpPr>
          <p:spPr bwMode="auto">
            <a:xfrm>
              <a:off x="1371600" y="5367046"/>
              <a:ext cx="9601200" cy="121615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5068888"/>
              <a:endParaRPr lang="en-US" sz="10000">
                <a:latin typeface="Arial" charset="0"/>
              </a:endParaRPr>
            </a:p>
          </p:txBody>
        </p:sp>
        <p:sp>
          <p:nvSpPr>
            <p:cNvPr id="56" name="Rectangle 75"/>
            <p:cNvSpPr>
              <a:spLocks noChangeArrowheads="1"/>
            </p:cNvSpPr>
            <p:nvPr/>
          </p:nvSpPr>
          <p:spPr bwMode="auto">
            <a:xfrm>
              <a:off x="1828800" y="5410200"/>
              <a:ext cx="9236829" cy="1112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/>
            <a:lstStyle>
              <a:lvl1pPr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1pPr>
              <a:lvl2pPr marL="742950" indent="-28575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2pPr>
              <a:lvl3pPr marL="1143000" indent="-228600" defTabSz="5068888" eaLnBrk="0" hangingPunct="0">
                <a:spcBef>
                  <a:spcPct val="20000"/>
                </a:spcBef>
                <a:buChar char="•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3pPr>
              <a:lvl4pPr marL="1600200" indent="-228600" defTabSz="5068888" eaLnBrk="0" hangingPunct="0">
                <a:spcBef>
                  <a:spcPct val="20000"/>
                </a:spcBef>
                <a:buChar char="–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4pPr>
              <a:lvl5pPr marL="2057400" indent="-228600" defTabSz="5068888" eaLnBrk="0" hangingPunct="0">
                <a:spcBef>
                  <a:spcPct val="20000"/>
                </a:spcBef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5pPr>
              <a:lvl6pPr marL="25146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6pPr>
              <a:lvl7pPr marL="29718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7pPr>
              <a:lvl8pPr marL="34290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8pPr>
              <a:lvl9pPr marL="3886200" indent="-228600" defTabSz="50688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3300">
                  <a:solidFill>
                    <a:schemeClr val="tx1"/>
                  </a:solidFill>
                  <a:latin typeface="CG Omega" panose="020B05020505080203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</p:txBody>
        </p:sp>
      </p:grpSp>
      <p:sp>
        <p:nvSpPr>
          <p:cNvPr id="5" name="Rectangle 90">
            <a:extLst>
              <a:ext uri="{FF2B5EF4-FFF2-40B4-BE49-F238E27FC236}">
                <a16:creationId xmlns:a16="http://schemas.microsoft.com/office/drawing/2014/main" id="{951E8BFF-2D84-DA81-87A2-A24505C3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6" y="7083424"/>
            <a:ext cx="9601200" cy="1356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1pPr>
            <a:lvl2pPr marL="742950" indent="-28575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2pPr>
            <a:lvl3pPr marL="1143000" indent="-228600" defTabSz="5121275" eaLnBrk="0" hangingPunct="0">
              <a:spcBef>
                <a:spcPct val="20000"/>
              </a:spcBef>
              <a:buChar char="•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3pPr>
            <a:lvl4pPr marL="1600200" indent="-228600" defTabSz="5121275" eaLnBrk="0" hangingPunct="0">
              <a:spcBef>
                <a:spcPct val="20000"/>
              </a:spcBef>
              <a:buChar char="–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4pPr>
            <a:lvl5pPr marL="2057400" indent="-228600" defTabSz="5121275" eaLnBrk="0" hangingPunct="0">
              <a:spcBef>
                <a:spcPct val="20000"/>
              </a:spcBef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5pPr>
            <a:lvl6pPr marL="25146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6pPr>
            <a:lvl7pPr marL="29718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7pPr>
            <a:lvl8pPr marL="34290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8pPr>
            <a:lvl9pPr marL="3886200" indent="-228600" defTabSz="51212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300">
                <a:solidFill>
                  <a:schemeClr val="tx1"/>
                </a:solidFill>
                <a:latin typeface="CG Omega" panose="020B0502050508020304" pitchFamily="34" charset="0"/>
              </a:defRPr>
            </a:lvl9pPr>
          </a:lstStyle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sz="3000" dirty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42F6F-31C9-D351-BF29-7AB335FA869F}"/>
              </a:ext>
            </a:extLst>
          </p:cNvPr>
          <p:cNvSpPr txBox="1"/>
          <p:nvPr/>
        </p:nvSpPr>
        <p:spPr>
          <a:xfrm>
            <a:off x="1554871" y="23215534"/>
            <a:ext cx="9525513" cy="327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Briefly outline what your work aims to achieve.</a:t>
            </a:r>
          </a:p>
          <a:p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Mention the research questions or hypotheses if applicable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A8600-FA50-E558-B0A2-65FD4A55E00D}"/>
              </a:ext>
            </a:extLst>
          </p:cNvPr>
          <p:cNvSpPr txBox="1"/>
          <p:nvPr/>
        </p:nvSpPr>
        <p:spPr>
          <a:xfrm>
            <a:off x="11466256" y="7116914"/>
            <a:ext cx="10588114" cy="13634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Transformation: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log1p (Log + 1)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sales data to handle high skewness and prevent negative predictions.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Imputation: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Forward/Backward filled missing oil prices; handled missing store transactions using median values. 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Features: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day, month, year,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day_of_week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is_payday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(15th/end of month). 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lags of 1, 7, 14, and 28 days to capture autocorrelation. 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Windows: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rolling means and standard deviations (7, 14, 28 days) to capture recent trends. 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three Gradient Boosting models: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prediction is a weighted average: 0.5 * LGBM + 0.25 * XGB + 0.25 * Cat.</a:t>
            </a:r>
            <a:endParaRPr lang="en-US" sz="4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8B105-89C5-9609-7C4F-8E11220D0496}"/>
              </a:ext>
            </a:extLst>
          </p:cNvPr>
          <p:cNvSpPr txBox="1"/>
          <p:nvPr/>
        </p:nvSpPr>
        <p:spPr>
          <a:xfrm>
            <a:off x="22838529" y="7171836"/>
            <a:ext cx="95698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(Validation Set):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models performed similarly, with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a slight edge.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RMSLE = 0.4067 (Best Single Model)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RMSLE = 0.4087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RMSLE = 0.4099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Score: ~0.975 (Explaining 97.5% of variance)</a:t>
            </a:r>
            <a:endParaRPr lang="en-US" sz="4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A9F24E-BF73-4C76-EF83-A317A446BE67}"/>
              </a:ext>
            </a:extLst>
          </p:cNvPr>
          <p:cNvSpPr txBox="1"/>
          <p:nvPr/>
        </p:nvSpPr>
        <p:spPr>
          <a:xfrm>
            <a:off x="33705726" y="7171836"/>
            <a:ext cx="9702948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(specifically rolling windows and lags) was far more impactful than algorithm selection. The ensemble approach stabilized predictions but yielded diminishing returns over the best single model.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ARIMA (for linear trends) with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non-linear residuals).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LSTMs or Transformers to better capture long-term dependencies and holiday spikes. </a:t>
            </a:r>
          </a:p>
          <a:p>
            <a:pPr marL="1363279" lvl="2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Holiday Interaction: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specifically engineering features for "Days until next holiday" to anticipate pre-holiday spikes.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81327-5919-A274-BEE1-385A7E0C2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0" y="54613"/>
            <a:ext cx="10820400" cy="443857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3028043-979F-406D-63FC-F57A73032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1464" y="13513109"/>
            <a:ext cx="8823954" cy="56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Goudy Old Style"/>
        <a:ea typeface=""/>
        <a:cs typeface=""/>
      </a:majorFont>
      <a:minorFont>
        <a:latin typeface="CG Omeg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50688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50688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400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CG Omega</vt:lpstr>
      <vt:lpstr>Goudy Old Style</vt:lpstr>
      <vt:lpstr>Helvetica</vt:lpstr>
      <vt:lpstr>Times New Roman</vt:lpstr>
      <vt:lpstr>Default Design</vt:lpstr>
      <vt:lpstr>PowerPoint Presentation</vt:lpstr>
    </vt:vector>
  </TitlesOfParts>
  <Company>UND School of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Lee</dc:creator>
  <cp:lastModifiedBy>S Karthikeyan S.</cp:lastModifiedBy>
  <cp:revision>57</cp:revision>
  <dcterms:created xsi:type="dcterms:W3CDTF">2006-09-08T15:21:56Z</dcterms:created>
  <dcterms:modified xsi:type="dcterms:W3CDTF">2025-12-10T15:02:49Z</dcterms:modified>
</cp:coreProperties>
</file>