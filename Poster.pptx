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43891200" cy="329184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8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G Omega"/>
        <a:ea typeface="CG Omega"/>
        <a:cs typeface="CG Omega"/>
        <a:sym typeface="CG Omega"/>
      </a:defRPr>
    </a:lvl1pPr>
    <a:lvl2pPr marL="0" marR="0" indent="395888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8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G Omega"/>
        <a:ea typeface="CG Omega"/>
        <a:cs typeface="CG Omega"/>
        <a:sym typeface="CG Omega"/>
      </a:defRPr>
    </a:lvl2pPr>
    <a:lvl3pPr marL="0" marR="0" indent="791778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8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G Omega"/>
        <a:ea typeface="CG Omega"/>
        <a:cs typeface="CG Omega"/>
        <a:sym typeface="CG Omega"/>
      </a:defRPr>
    </a:lvl3pPr>
    <a:lvl4pPr marL="0" marR="0" indent="1187668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8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G Omega"/>
        <a:ea typeface="CG Omega"/>
        <a:cs typeface="CG Omega"/>
        <a:sym typeface="CG Omega"/>
      </a:defRPr>
    </a:lvl4pPr>
    <a:lvl5pPr marL="0" marR="0" indent="1583557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8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G Omega"/>
        <a:ea typeface="CG Omega"/>
        <a:cs typeface="CG Omega"/>
        <a:sym typeface="CG Omega"/>
      </a:defRPr>
    </a:lvl5pPr>
    <a:lvl6pPr marL="0" marR="0" indent="1979447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8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G Omega"/>
        <a:ea typeface="CG Omega"/>
        <a:cs typeface="CG Omega"/>
        <a:sym typeface="CG Omega"/>
      </a:defRPr>
    </a:lvl6pPr>
    <a:lvl7pPr marL="0" marR="0" indent="2375336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8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G Omega"/>
        <a:ea typeface="CG Omega"/>
        <a:cs typeface="CG Omega"/>
        <a:sym typeface="CG Omega"/>
      </a:defRPr>
    </a:lvl7pPr>
    <a:lvl8pPr marL="0" marR="0" indent="2771226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8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G Omega"/>
        <a:ea typeface="CG Omega"/>
        <a:cs typeface="CG Omega"/>
        <a:sym typeface="CG Omega"/>
      </a:defRPr>
    </a:lvl8pPr>
    <a:lvl9pPr marL="0" marR="0" indent="3167115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8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CG Omega"/>
        <a:ea typeface="CG Omega"/>
        <a:cs typeface="CG Omega"/>
        <a:sym typeface="CG Omega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CG Omega"/>
          <a:ea typeface="CG Omega"/>
          <a:cs typeface="CG Omega"/>
        </a:font>
        <a:srgbClr val="000000"/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E7F3F4"/>
          </a:solidFill>
        </a:fill>
      </a:tcStyle>
    </a:wholeTbl>
    <a:band2H>
      <a:tcTxStyle/>
      <a:tcStyle>
        <a:tcBdr/>
        <a:fill>
          <a:solidFill>
            <a:srgbClr val="F3F9FA"/>
          </a:solidFill>
        </a:fill>
      </a:tcStyle>
    </a:band2H>
    <a:firstCol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G Omega"/>
          <a:ea typeface="CG Omega"/>
          <a:cs typeface="CG Omega"/>
        </a:font>
        <a:srgbClr val="000000"/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3">
              <a:lumOff val="44000"/>
            </a:schemeClr>
          </a:solidFill>
        </a:fill>
      </a:tcStyle>
    </a:wholeTbl>
    <a:band2H>
      <a:tcTxStyle/>
      <a:tcStyle>
        <a:tcBdr/>
        <a:fill>
          <a:solidFill>
            <a:schemeClr val="accent3">
              <a:lumOff val="44000"/>
            </a:schemeClr>
          </a:solidFill>
        </a:fill>
      </a:tcStyle>
    </a:band2H>
    <a:firstCol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3">
              <a:lumOff val="44000"/>
            </a:schemeClr>
          </a:solidFill>
        </a:fill>
      </a:tcStyle>
    </a:firstCol>
    <a:lastRow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3">
              <a:lumOff val="44000"/>
            </a:schemeClr>
          </a:solidFill>
        </a:fill>
      </a:tcStyle>
    </a:lastRow>
    <a:firstRow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3">
              <a:lumOff val="44000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G Omega"/>
          <a:ea typeface="CG Omega"/>
          <a:cs typeface="CG Omega"/>
        </a:font>
        <a:srgbClr val="000000"/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CCCCD9"/>
          </a:solidFill>
        </a:fill>
      </a:tcStyle>
    </a:wholeTbl>
    <a:band2H>
      <a:tcTxStyle/>
      <a:tcStyle>
        <a:tcBdr/>
        <a:fill>
          <a:solidFill>
            <a:srgbClr val="E7E7ED"/>
          </a:solidFill>
        </a:fill>
      </a:tcStyle>
    </a:band2H>
    <a:firstCol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G Omega"/>
          <a:ea typeface="CG Omega"/>
          <a:cs typeface="CG Omeg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chemeClr val="accent3">
              <a:lumOff val="44000"/>
            </a:schemeClr>
          </a:solidFill>
        </a:fill>
      </a:tcStyle>
    </a:band2H>
    <a:firstCol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G Omega"/>
          <a:ea typeface="CG Omega"/>
          <a:cs typeface="CG Omega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3">
              <a:lumOff val="44000"/>
            </a:schemeClr>
          </a:solidFill>
        </a:fill>
      </a:tcStyle>
    </a:lastRow>
    <a:firstRow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G Omega"/>
          <a:ea typeface="CG Omega"/>
          <a:cs typeface="CG Omega"/>
        </a:font>
        <a:srgbClr val="000000"/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G Omega"/>
          <a:ea typeface="CG Omega"/>
          <a:cs typeface="CG Omega"/>
        </a:font>
        <a:schemeClr val="accent3">
          <a:lumOff val="44000"/>
        </a:schemeClr>
      </a:tcTxStyle>
      <a:tcStyle>
        <a:tcBdr>
          <a:lef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left>
          <a:right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right>
          <a:top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top>
          <a:bottom>
            <a:ln w="381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bottom>
          <a:insideH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H>
          <a:insideV>
            <a:ln w="12700" cap="flat">
              <a:solidFill>
                <a:schemeClr val="accent3">
                  <a:lumOff val="44000"/>
                </a:schemeClr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G Omega"/>
          <a:ea typeface="CG Omega"/>
          <a:cs typeface="CG Omeg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chemeClr val="accent3">
              <a:lumOff val="44000"/>
            </a:schemeClr>
          </a:solidFill>
        </a:fill>
      </a:tcStyle>
    </a:band2H>
    <a:firstCol>
      <a:tcTxStyle b="on" i="off">
        <a:font>
          <a:latin typeface="CG Omega"/>
          <a:ea typeface="CG Omega"/>
          <a:cs typeface="CG Omeg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G Omega"/>
          <a:ea typeface="CG Omega"/>
          <a:cs typeface="CG Omeg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G Omega"/>
          <a:ea typeface="CG Omega"/>
          <a:cs typeface="CG Omega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7" d="100"/>
          <a:sy n="17" d="100"/>
        </p:scale>
        <p:origin x="15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Arial"/>
      </a:defRPr>
    </a:lvl1pPr>
    <a:lvl2pPr indent="228600" latinLnBrk="0">
      <a:defRPr sz="1200">
        <a:latin typeface="+mn-lt"/>
        <a:ea typeface="+mn-ea"/>
        <a:cs typeface="+mn-cs"/>
        <a:sym typeface="Arial"/>
      </a:defRPr>
    </a:lvl2pPr>
    <a:lvl3pPr indent="457200" latinLnBrk="0">
      <a:defRPr sz="1200">
        <a:latin typeface="+mn-lt"/>
        <a:ea typeface="+mn-ea"/>
        <a:cs typeface="+mn-cs"/>
        <a:sym typeface="Arial"/>
      </a:defRPr>
    </a:lvl3pPr>
    <a:lvl4pPr indent="685800" latinLnBrk="0">
      <a:defRPr sz="1200">
        <a:latin typeface="+mn-lt"/>
        <a:ea typeface="+mn-ea"/>
        <a:cs typeface="+mn-cs"/>
        <a:sym typeface="Arial"/>
      </a:defRPr>
    </a:lvl4pPr>
    <a:lvl5pPr indent="914400" latinLnBrk="0">
      <a:defRPr sz="1200">
        <a:latin typeface="+mn-lt"/>
        <a:ea typeface="+mn-ea"/>
        <a:cs typeface="+mn-cs"/>
        <a:sym typeface="Arial"/>
      </a:defRPr>
    </a:lvl5pPr>
    <a:lvl6pPr indent="1143000" latinLnBrk="0">
      <a:defRPr sz="1200">
        <a:latin typeface="+mn-lt"/>
        <a:ea typeface="+mn-ea"/>
        <a:cs typeface="+mn-cs"/>
        <a:sym typeface="Arial"/>
      </a:defRPr>
    </a:lvl6pPr>
    <a:lvl7pPr indent="1371600" latinLnBrk="0">
      <a:defRPr sz="1200">
        <a:latin typeface="+mn-lt"/>
        <a:ea typeface="+mn-ea"/>
        <a:cs typeface="+mn-cs"/>
        <a:sym typeface="Arial"/>
      </a:defRPr>
    </a:lvl7pPr>
    <a:lvl8pPr indent="1600200" latinLnBrk="0">
      <a:defRPr sz="1200">
        <a:latin typeface="+mn-lt"/>
        <a:ea typeface="+mn-ea"/>
        <a:cs typeface="+mn-cs"/>
        <a:sym typeface="Arial"/>
      </a:defRPr>
    </a:lvl8pPr>
    <a:lvl9pPr indent="1828800" latinLnBrk="0">
      <a:defRPr sz="1200">
        <a:latin typeface="+mn-lt"/>
        <a:ea typeface="+mn-ea"/>
        <a:cs typeface="+mn-cs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3291568" y="10225668"/>
            <a:ext cx="37308065" cy="705593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6583136" y="18653202"/>
            <a:ext cx="30724928" cy="841359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SzTx/>
              <a:buNone/>
            </a:lvl1pPr>
            <a:lvl2pPr marL="0" indent="457200" algn="ctr">
              <a:buSzTx/>
              <a:buNone/>
            </a:lvl2pPr>
            <a:lvl3pPr marL="0" indent="914400" algn="ctr">
              <a:buSzTx/>
              <a:buNone/>
            </a:lvl3pPr>
            <a:lvl4pPr marL="0" indent="1371600" algn="ctr">
              <a:buSzTx/>
              <a:buNone/>
            </a:lvl4pPr>
            <a:lvl5pPr marL="0" indent="1828800" algn="ctr">
              <a:buSzTx/>
              <a:buNone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2194833" y="7680403"/>
            <a:ext cx="9365796" cy="21625003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3467101" y="21152470"/>
            <a:ext cx="37308065" cy="6538797"/>
          </a:xfrm>
          <a:prstGeom prst="rect">
            <a:avLst/>
          </a:prstGeom>
        </p:spPr>
        <p:txBody>
          <a:bodyPr/>
          <a:lstStyle>
            <a:lvl1pPr algn="l">
              <a:defRPr sz="4000" cap="all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3467101" y="13951570"/>
            <a:ext cx="37308065" cy="7200901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spcBef>
                <a:spcPts val="400"/>
              </a:spcBef>
              <a:buSzTx/>
              <a:buNone/>
              <a:defRPr sz="2000"/>
            </a:lvl1pPr>
            <a:lvl2pPr marL="0" indent="457200">
              <a:spcBef>
                <a:spcPts val="400"/>
              </a:spcBef>
              <a:buSzTx/>
              <a:buNone/>
              <a:defRPr sz="2000"/>
            </a:lvl2pPr>
            <a:lvl3pPr marL="0" indent="914400">
              <a:spcBef>
                <a:spcPts val="400"/>
              </a:spcBef>
              <a:buSzTx/>
              <a:buNone/>
              <a:defRPr sz="2000"/>
            </a:lvl3pPr>
            <a:lvl4pPr marL="0" indent="1371600">
              <a:spcBef>
                <a:spcPts val="400"/>
              </a:spcBef>
              <a:buSzTx/>
              <a:buNone/>
              <a:defRPr sz="2000"/>
            </a:lvl4pPr>
            <a:lvl5pPr marL="0" indent="1828800">
              <a:spcBef>
                <a:spcPts val="400"/>
              </a:spcBef>
              <a:buSzTx/>
              <a:buNone/>
              <a:defRPr sz="20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2194833" y="7680403"/>
            <a:ext cx="4616904" cy="2162500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spcBef>
                <a:spcPts val="600"/>
              </a:spcBef>
              <a:defRPr sz="2800"/>
            </a:lvl1pPr>
            <a:lvl2pPr marL="985043" indent="-494506">
              <a:spcBef>
                <a:spcPts val="600"/>
              </a:spcBef>
              <a:defRPr sz="2800"/>
            </a:lvl2pPr>
            <a:lvl3pPr marL="1773238" indent="-744538">
              <a:spcBef>
                <a:spcPts val="600"/>
              </a:spcBef>
              <a:defRPr sz="2800"/>
            </a:lvl3pPr>
            <a:lvl4pPr marL="2415646" indent="-740833">
              <a:spcBef>
                <a:spcPts val="600"/>
              </a:spcBef>
              <a:defRPr sz="2800"/>
            </a:lvl4pPr>
            <a:lvl5pPr marL="3176587" indent="-911225">
              <a:spcBef>
                <a:spcPts val="600"/>
              </a:spcBef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2194833" y="1318632"/>
            <a:ext cx="39501537" cy="54864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2194833" y="7368168"/>
            <a:ext cx="19392901" cy="3070769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spcBef>
                <a:spcPts val="500"/>
              </a:spcBef>
              <a:buSzTx/>
              <a:buNone/>
              <a:defRPr sz="2400" b="1"/>
            </a:lvl1pPr>
            <a:lvl2pPr marL="0" indent="457200">
              <a:spcBef>
                <a:spcPts val="500"/>
              </a:spcBef>
              <a:buSzTx/>
              <a:buNone/>
              <a:defRPr sz="2400" b="1"/>
            </a:lvl2pPr>
            <a:lvl3pPr marL="0" indent="914400">
              <a:spcBef>
                <a:spcPts val="500"/>
              </a:spcBef>
              <a:buSzTx/>
              <a:buNone/>
              <a:defRPr sz="2400" b="1"/>
            </a:lvl3pPr>
            <a:lvl4pPr marL="0" indent="1371600">
              <a:spcBef>
                <a:spcPts val="500"/>
              </a:spcBef>
              <a:buSzTx/>
              <a:buNone/>
              <a:defRPr sz="2400" b="1"/>
            </a:lvl4pPr>
            <a:lvl5pPr marL="0" indent="1828800">
              <a:spcBef>
                <a:spcPts val="500"/>
              </a:spcBef>
              <a:buSz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22296663" y="7368168"/>
            <a:ext cx="19399706" cy="3070769"/>
          </a:xfrm>
          <a:prstGeom prst="rect">
            <a:avLst/>
          </a:prstGeom>
        </p:spPr>
        <p:txBody>
          <a:bodyPr anchor="b">
            <a:normAutofit/>
          </a:bodyPr>
          <a:lstStyle/>
          <a:p>
            <a:pPr marL="0" indent="0">
              <a:spcBef>
                <a:spcPts val="500"/>
              </a:spcBef>
              <a:buSzTx/>
              <a:buNone/>
              <a:defRPr sz="2400" b="1"/>
            </a:pPr>
            <a:endParaRPr/>
          </a:p>
        </p:txBody>
      </p:sp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>
            <a:spLocks noGrp="1"/>
          </p:cNvSpPr>
          <p:nvPr>
            <p:ph type="title"/>
          </p:nvPr>
        </p:nvSpPr>
        <p:spPr>
          <a:xfrm>
            <a:off x="2194833" y="1310268"/>
            <a:ext cx="14439901" cy="5578399"/>
          </a:xfrm>
          <a:prstGeom prst="rect">
            <a:avLst/>
          </a:prstGeom>
        </p:spPr>
        <p:txBody>
          <a:bodyPr anchor="b"/>
          <a:lstStyle>
            <a:lvl1pPr algn="l">
              <a:defRPr sz="2000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idx="1"/>
          </p:nvPr>
        </p:nvSpPr>
        <p:spPr>
          <a:xfrm>
            <a:off x="17159968" y="1310267"/>
            <a:ext cx="24536401" cy="2809549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3200"/>
            </a:lvl1pPr>
            <a:lvl2pPr marL="974951" indent="-484414">
              <a:defRPr sz="3200"/>
            </a:lvl2pPr>
            <a:lvl3pPr marL="1737784" indent="-709084">
              <a:defRPr sz="3200"/>
            </a:lvl3pPr>
            <a:lvl4pPr marL="2436813" indent="-762000">
              <a:defRPr sz="3200"/>
            </a:lvl4pPr>
            <a:lvl5pPr marL="3202622" indent="-937260">
              <a:defRPr sz="32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half" idx="21"/>
          </p:nvPr>
        </p:nvSpPr>
        <p:spPr>
          <a:xfrm>
            <a:off x="2194833" y="6888666"/>
            <a:ext cx="14439901" cy="22517101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buSzTx/>
              <a:buNone/>
              <a:defRPr sz="1400"/>
            </a:pPr>
            <a:endParaRPr/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8602436" y="23042601"/>
            <a:ext cx="26335264" cy="2720899"/>
          </a:xfrm>
          <a:prstGeom prst="rect">
            <a:avLst/>
          </a:prstGeom>
        </p:spPr>
        <p:txBody>
          <a:bodyPr anchor="b"/>
          <a:lstStyle>
            <a:lvl1pPr algn="l">
              <a:defRPr sz="2000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8602436" y="2941134"/>
            <a:ext cx="26335264" cy="19751598"/>
          </a:xfrm>
          <a:prstGeom prst="rect">
            <a:avLst/>
          </a:prstGeom>
        </p:spPr>
        <p:txBody>
          <a:bodyPr lIns="91439" tIns="45719" rIns="91439" bIns="45719"/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8602436" y="25763498"/>
            <a:ext cx="26335264" cy="3862504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spcBef>
                <a:spcPts val="300"/>
              </a:spcBef>
              <a:buSzTx/>
              <a:buNone/>
              <a:defRPr sz="1400"/>
            </a:lvl1pPr>
            <a:lvl2pPr marL="0" indent="457200">
              <a:spcBef>
                <a:spcPts val="300"/>
              </a:spcBef>
              <a:buSzTx/>
              <a:buNone/>
              <a:defRPr sz="1400"/>
            </a:lvl2pPr>
            <a:lvl3pPr marL="0" indent="914400">
              <a:spcBef>
                <a:spcPts val="300"/>
              </a:spcBef>
              <a:buSzTx/>
              <a:buNone/>
              <a:defRPr sz="1400"/>
            </a:lvl3pPr>
            <a:lvl4pPr marL="0" indent="1371600">
              <a:spcBef>
                <a:spcPts val="300"/>
              </a:spcBef>
              <a:buSzTx/>
              <a:buNone/>
              <a:defRPr sz="1400"/>
            </a:lvl4pPr>
            <a:lvl5pPr marL="0" indent="1828800">
              <a:spcBef>
                <a:spcPts val="300"/>
              </a:spcBef>
              <a:buSzTx/>
              <a:buNone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Off val="44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2194833" y="1318632"/>
            <a:ext cx="39501537" cy="28965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2194560" y="7680959"/>
            <a:ext cx="39502079" cy="252374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253416" tIns="253416" rIns="253416" bIns="253416"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21214080" y="29634178"/>
            <a:ext cx="10241281" cy="17526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latin typeface="+mn-lt"/>
                <a:ea typeface="+mn-ea"/>
                <a:cs typeface="+mn-cs"/>
                <a:sym typeface="Arial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506888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0" b="1" i="0" u="none" strike="noStrike" cap="none" spc="0" baseline="0">
          <a:solidFill>
            <a:srgbClr val="000000"/>
          </a:solidFill>
          <a:uFillTx/>
          <a:latin typeface="Goudy Old Style"/>
          <a:ea typeface="Goudy Old Style"/>
          <a:cs typeface="Goudy Old Style"/>
          <a:sym typeface="Goudy Old Style"/>
        </a:defRPr>
      </a:lvl1pPr>
      <a:lvl2pPr marL="0" marR="0" indent="0" algn="ctr" defTabSz="506888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0" b="1" i="0" u="none" strike="noStrike" cap="none" spc="0" baseline="0">
          <a:solidFill>
            <a:srgbClr val="000000"/>
          </a:solidFill>
          <a:uFillTx/>
          <a:latin typeface="Goudy Old Style"/>
          <a:ea typeface="Goudy Old Style"/>
          <a:cs typeface="Goudy Old Style"/>
          <a:sym typeface="Goudy Old Style"/>
        </a:defRPr>
      </a:lvl2pPr>
      <a:lvl3pPr marL="0" marR="0" indent="0" algn="ctr" defTabSz="506888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0" b="1" i="0" u="none" strike="noStrike" cap="none" spc="0" baseline="0">
          <a:solidFill>
            <a:srgbClr val="000000"/>
          </a:solidFill>
          <a:uFillTx/>
          <a:latin typeface="Goudy Old Style"/>
          <a:ea typeface="Goudy Old Style"/>
          <a:cs typeface="Goudy Old Style"/>
          <a:sym typeface="Goudy Old Style"/>
        </a:defRPr>
      </a:lvl3pPr>
      <a:lvl4pPr marL="0" marR="0" indent="0" algn="ctr" defTabSz="506888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0" b="1" i="0" u="none" strike="noStrike" cap="none" spc="0" baseline="0">
          <a:solidFill>
            <a:srgbClr val="000000"/>
          </a:solidFill>
          <a:uFillTx/>
          <a:latin typeface="Goudy Old Style"/>
          <a:ea typeface="Goudy Old Style"/>
          <a:cs typeface="Goudy Old Style"/>
          <a:sym typeface="Goudy Old Style"/>
        </a:defRPr>
      </a:lvl4pPr>
      <a:lvl5pPr marL="0" marR="0" indent="0" algn="ctr" defTabSz="506888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0" b="1" i="0" u="none" strike="noStrike" cap="none" spc="0" baseline="0">
          <a:solidFill>
            <a:srgbClr val="000000"/>
          </a:solidFill>
          <a:uFillTx/>
          <a:latin typeface="Goudy Old Style"/>
          <a:ea typeface="Goudy Old Style"/>
          <a:cs typeface="Goudy Old Style"/>
          <a:sym typeface="Goudy Old Style"/>
        </a:defRPr>
      </a:lvl5pPr>
      <a:lvl6pPr marL="0" marR="0" indent="457200" algn="ctr" defTabSz="506888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0" b="1" i="0" u="none" strike="noStrike" cap="none" spc="0" baseline="0">
          <a:solidFill>
            <a:srgbClr val="000000"/>
          </a:solidFill>
          <a:uFillTx/>
          <a:latin typeface="Goudy Old Style"/>
          <a:ea typeface="Goudy Old Style"/>
          <a:cs typeface="Goudy Old Style"/>
          <a:sym typeface="Goudy Old Style"/>
        </a:defRPr>
      </a:lvl6pPr>
      <a:lvl7pPr marL="0" marR="0" indent="914400" algn="ctr" defTabSz="506888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0" b="1" i="0" u="none" strike="noStrike" cap="none" spc="0" baseline="0">
          <a:solidFill>
            <a:srgbClr val="000000"/>
          </a:solidFill>
          <a:uFillTx/>
          <a:latin typeface="Goudy Old Style"/>
          <a:ea typeface="Goudy Old Style"/>
          <a:cs typeface="Goudy Old Style"/>
          <a:sym typeface="Goudy Old Style"/>
        </a:defRPr>
      </a:lvl7pPr>
      <a:lvl8pPr marL="0" marR="0" indent="1371600" algn="ctr" defTabSz="506888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0" b="1" i="0" u="none" strike="noStrike" cap="none" spc="0" baseline="0">
          <a:solidFill>
            <a:srgbClr val="000000"/>
          </a:solidFill>
          <a:uFillTx/>
          <a:latin typeface="Goudy Old Style"/>
          <a:ea typeface="Goudy Old Style"/>
          <a:cs typeface="Goudy Old Style"/>
          <a:sym typeface="Goudy Old Style"/>
        </a:defRPr>
      </a:lvl8pPr>
      <a:lvl9pPr marL="0" marR="0" indent="1828800" algn="ctr" defTabSz="5068887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0000" b="1" i="0" u="none" strike="noStrike" cap="none" spc="0" baseline="0">
          <a:solidFill>
            <a:srgbClr val="000000"/>
          </a:solidFill>
          <a:uFillTx/>
          <a:latin typeface="Goudy Old Style"/>
          <a:ea typeface="Goudy Old Style"/>
          <a:cs typeface="Goudy Old Style"/>
          <a:sym typeface="Goudy Old Style"/>
        </a:defRPr>
      </a:lvl9pPr>
    </p:titleStyle>
    <p:bodyStyle>
      <a:lvl1pPr marL="376238" marR="0" indent="-376238" algn="l" defTabSz="5068887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•"/>
        <a:tabLst/>
        <a:defRPr sz="3300" b="0" i="0" u="none" strike="noStrike" cap="none" spc="0" baseline="0">
          <a:solidFill>
            <a:srgbClr val="000000"/>
          </a:solidFill>
          <a:uFillTx/>
          <a:latin typeface="CG Omega"/>
          <a:ea typeface="CG Omega"/>
          <a:cs typeface="CG Omega"/>
          <a:sym typeface="CG Omega"/>
        </a:defRPr>
      </a:lvl1pPr>
      <a:lvl2pPr marL="914400" marR="0" indent="-423862" algn="l" defTabSz="5068887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–"/>
        <a:tabLst/>
        <a:defRPr sz="3300" b="0" i="0" u="none" strike="noStrike" cap="none" spc="0" baseline="0">
          <a:solidFill>
            <a:srgbClr val="000000"/>
          </a:solidFill>
          <a:uFillTx/>
          <a:latin typeface="CG Omega"/>
          <a:ea typeface="CG Omega"/>
          <a:cs typeface="CG Omega"/>
          <a:sym typeface="CG Omega"/>
        </a:defRPr>
      </a:lvl2pPr>
      <a:lvl3pPr marL="1560512" marR="0" indent="-531812" algn="l" defTabSz="5068887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•"/>
        <a:tabLst/>
        <a:defRPr sz="3300" b="0" i="0" u="none" strike="noStrike" cap="none" spc="0" baseline="0">
          <a:solidFill>
            <a:srgbClr val="000000"/>
          </a:solidFill>
          <a:uFillTx/>
          <a:latin typeface="CG Omega"/>
          <a:ea typeface="CG Omega"/>
          <a:cs typeface="CG Omega"/>
          <a:sym typeface="CG Omega"/>
        </a:defRPr>
      </a:lvl3pPr>
      <a:lvl4pPr marL="2151063" marR="0" indent="-476250" algn="l" defTabSz="5068887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–"/>
        <a:tabLst/>
        <a:defRPr sz="3300" b="0" i="0" u="none" strike="noStrike" cap="none" spc="0" baseline="0">
          <a:solidFill>
            <a:srgbClr val="000000"/>
          </a:solidFill>
          <a:uFillTx/>
          <a:latin typeface="CG Omega"/>
          <a:ea typeface="CG Omega"/>
          <a:cs typeface="CG Omega"/>
          <a:sym typeface="CG Omega"/>
        </a:defRPr>
      </a:lvl4pPr>
      <a:lvl5pPr marL="2851150" marR="0" indent="-585787" algn="l" defTabSz="5068887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»"/>
        <a:tabLst/>
        <a:defRPr sz="3300" b="0" i="0" u="none" strike="noStrike" cap="none" spc="0" baseline="0">
          <a:solidFill>
            <a:srgbClr val="000000"/>
          </a:solidFill>
          <a:uFillTx/>
          <a:latin typeface="CG Omega"/>
          <a:ea typeface="CG Omega"/>
          <a:cs typeface="CG Omega"/>
          <a:sym typeface="CG Omega"/>
        </a:defRPr>
      </a:lvl5pPr>
      <a:lvl6pPr marL="3308350" marR="0" indent="-585787" algn="l" defTabSz="5068887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»"/>
        <a:tabLst/>
        <a:defRPr sz="3300" b="0" i="0" u="none" strike="noStrike" cap="none" spc="0" baseline="0">
          <a:solidFill>
            <a:srgbClr val="000000"/>
          </a:solidFill>
          <a:uFillTx/>
          <a:latin typeface="CG Omega"/>
          <a:ea typeface="CG Omega"/>
          <a:cs typeface="CG Omega"/>
          <a:sym typeface="CG Omega"/>
        </a:defRPr>
      </a:lvl6pPr>
      <a:lvl7pPr marL="3765550" marR="0" indent="-585787" algn="l" defTabSz="5068887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»"/>
        <a:tabLst/>
        <a:defRPr sz="3300" b="0" i="0" u="none" strike="noStrike" cap="none" spc="0" baseline="0">
          <a:solidFill>
            <a:srgbClr val="000000"/>
          </a:solidFill>
          <a:uFillTx/>
          <a:latin typeface="CG Omega"/>
          <a:ea typeface="CG Omega"/>
          <a:cs typeface="CG Omega"/>
          <a:sym typeface="CG Omega"/>
        </a:defRPr>
      </a:lvl7pPr>
      <a:lvl8pPr marL="4222750" marR="0" indent="-585787" algn="l" defTabSz="5068887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»"/>
        <a:tabLst/>
        <a:defRPr sz="3300" b="0" i="0" u="none" strike="noStrike" cap="none" spc="0" baseline="0">
          <a:solidFill>
            <a:srgbClr val="000000"/>
          </a:solidFill>
          <a:uFillTx/>
          <a:latin typeface="CG Omega"/>
          <a:ea typeface="CG Omega"/>
          <a:cs typeface="CG Omega"/>
          <a:sym typeface="CG Omega"/>
        </a:defRPr>
      </a:lvl8pPr>
      <a:lvl9pPr marL="4679950" marR="0" indent="-585787" algn="l" defTabSz="5068887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Tx/>
        <a:buChar char="»"/>
        <a:tabLst/>
        <a:defRPr sz="3300" b="0" i="0" u="none" strike="noStrike" cap="none" spc="0" baseline="0">
          <a:solidFill>
            <a:srgbClr val="000000"/>
          </a:solidFill>
          <a:uFillTx/>
          <a:latin typeface="CG Omega"/>
          <a:ea typeface="CG Omega"/>
          <a:cs typeface="CG Omega"/>
          <a:sym typeface="CG Omega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395888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791778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1187668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1583557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1979447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2375336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2771226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3167115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cienciadedatos.net/documentos/py49-modelling-time-series-trend-with-tree-based-models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catboost.ai/docs/en/concepts/python-quickstart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xgboost.readthedocs.io/en/latest/parameter.html" TargetMode="External"/><Relationship Id="rId5" Type="http://schemas.openxmlformats.org/officeDocument/2006/relationships/hyperlink" Target="https://lightgbm.readthedocs.io/en/latest/Python-Intro.html" TargetMode="External"/><Relationship Id="rId4" Type="http://schemas.openxmlformats.org/officeDocument/2006/relationships/image" Target="../media/image3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74"/>
          <p:cNvSpPr txBox="1"/>
          <p:nvPr/>
        </p:nvSpPr>
        <p:spPr>
          <a:xfrm>
            <a:off x="1341119" y="586317"/>
            <a:ext cx="37170362" cy="49953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defTabSz="5068887">
              <a:defRPr sz="10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Store Sales Time Series Forecasting</a:t>
            </a:r>
            <a:endParaRPr sz="3300"/>
          </a:p>
          <a:p>
            <a:pPr marL="285750" lvl="1" indent="171450" defTabSz="5068887">
              <a:defRPr sz="6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Author List:</a:t>
            </a:r>
            <a:endParaRPr sz="3300"/>
          </a:p>
          <a:p>
            <a:pPr marL="228600" lvl="2" indent="685800" defTabSz="5068887">
              <a:defRPr sz="4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Bhanu Harsha Yanamadala</a:t>
            </a:r>
          </a:p>
          <a:p>
            <a:pPr marL="228600" lvl="2" indent="685800" defTabSz="5068887">
              <a:defRPr sz="4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Kobe Zheng</a:t>
            </a:r>
            <a:endParaRPr sz="3300"/>
          </a:p>
          <a:p>
            <a:pPr marL="228600" lvl="2" indent="685800" defTabSz="5068887">
              <a:defRPr sz="44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t>Sai Karthikeyan Sura</a:t>
            </a:r>
            <a:br/>
            <a:endParaRPr/>
          </a:p>
        </p:txBody>
      </p:sp>
      <p:sp>
        <p:nvSpPr>
          <p:cNvPr id="95" name="Rectangle 90"/>
          <p:cNvSpPr txBox="1"/>
          <p:nvPr/>
        </p:nvSpPr>
        <p:spPr>
          <a:xfrm>
            <a:off x="1417320" y="7083424"/>
            <a:ext cx="9599415" cy="721736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marL="457200" indent="-457200" defTabSz="5121275">
              <a:spcBef>
                <a:spcPts val="1200"/>
              </a:spcBef>
              <a:buSzPct val="100000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Objective:</a:t>
            </a:r>
            <a:r>
              <a:rPr b="0" dirty="0"/>
              <a:t> Forecast daily unit sales for thousands of product families at "Corporación Favorita" stores in Ecuador.</a:t>
            </a:r>
          </a:p>
          <a:p>
            <a:pPr marL="457200" indent="-457200" defTabSz="5121275">
              <a:spcBef>
                <a:spcPts val="1200"/>
              </a:spcBef>
              <a:buSzPct val="100000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Significance: </a:t>
            </a:r>
            <a:r>
              <a:rPr b="0" dirty="0"/>
              <a:t>Accurate demand forecasting can reduce inventory costs by 20-30% and minimize stockouts in retail operations.</a:t>
            </a:r>
          </a:p>
          <a:p>
            <a:pPr marL="457200" indent="-457200" defTabSz="5121275">
              <a:spcBef>
                <a:spcPts val="1200"/>
              </a:spcBef>
              <a:buSzPct val="100000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Challenge:</a:t>
            </a:r>
            <a:r>
              <a:rPr b="0" dirty="0"/>
              <a:t> The dataset includes complex seasonality (weekly/yearly), holiday effects, oil price fluctuations, and earthquake events affecting supply chains.</a:t>
            </a:r>
            <a:endParaRPr sz="3300" dirty="0"/>
          </a:p>
          <a:p>
            <a:pPr defTabSz="5121275">
              <a:spcBef>
                <a:spcPts val="1200"/>
              </a:spcBef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endParaRPr sz="3300" dirty="0"/>
          </a:p>
        </p:txBody>
      </p:sp>
      <p:grpSp>
        <p:nvGrpSpPr>
          <p:cNvPr id="98" name="Group 2"/>
          <p:cNvGrpSpPr/>
          <p:nvPr/>
        </p:nvGrpSpPr>
        <p:grpSpPr>
          <a:xfrm>
            <a:off x="1464429" y="5367046"/>
            <a:ext cx="9601201" cy="1216153"/>
            <a:chOff x="0" y="0"/>
            <a:chExt cx="9601200" cy="1216152"/>
          </a:xfrm>
        </p:grpSpPr>
        <p:sp>
          <p:nvSpPr>
            <p:cNvPr id="96" name="Rectangle 69"/>
            <p:cNvSpPr/>
            <p:nvPr/>
          </p:nvSpPr>
          <p:spPr>
            <a:xfrm>
              <a:off x="0" y="-1"/>
              <a:ext cx="9601200" cy="1216154"/>
            </a:xfrm>
            <a:prstGeom prst="rect">
              <a:avLst/>
            </a:prstGeom>
            <a:solidFill>
              <a:srgbClr val="BADDE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5068887">
                <a:defRPr sz="10000">
                  <a:latin typeface="+mn-lt"/>
                  <a:ea typeface="+mn-ea"/>
                  <a:cs typeface="+mn-cs"/>
                  <a:sym typeface="Arial"/>
                </a:defRPr>
              </a:pPr>
              <a:endParaRPr/>
            </a:p>
          </p:txBody>
        </p:sp>
        <p:sp>
          <p:nvSpPr>
            <p:cNvPr id="97" name="Rectangle 75"/>
            <p:cNvSpPr txBox="1"/>
            <p:nvPr/>
          </p:nvSpPr>
          <p:spPr>
            <a:xfrm>
              <a:off x="410090" y="43153"/>
              <a:ext cx="9145390" cy="9353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ctr" defTabSz="5068887">
                <a:defRPr sz="6000" b="1"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r>
                <a:t>Introduction</a:t>
              </a:r>
            </a:p>
          </p:txBody>
        </p:sp>
      </p:grpSp>
      <p:grpSp>
        <p:nvGrpSpPr>
          <p:cNvPr id="101" name="Group 37"/>
          <p:cNvGrpSpPr/>
          <p:nvPr/>
        </p:nvGrpSpPr>
        <p:grpSpPr>
          <a:xfrm>
            <a:off x="11959712" y="5367046"/>
            <a:ext cx="9648310" cy="1216153"/>
            <a:chOff x="0" y="0"/>
            <a:chExt cx="9648308" cy="1216152"/>
          </a:xfrm>
        </p:grpSpPr>
        <p:sp>
          <p:nvSpPr>
            <p:cNvPr id="99" name="Rectangle 38"/>
            <p:cNvSpPr/>
            <p:nvPr/>
          </p:nvSpPr>
          <p:spPr>
            <a:xfrm>
              <a:off x="0" y="0"/>
              <a:ext cx="9601200" cy="1216153"/>
            </a:xfrm>
            <a:prstGeom prst="rect">
              <a:avLst/>
            </a:prstGeom>
            <a:solidFill>
              <a:srgbClr val="BADDE1"/>
            </a:solidFill>
            <a:ln w="9525" cap="flat">
              <a:solidFill>
                <a:srgbClr val="A3C6CD"/>
              </a:solidFill>
              <a:prstDash val="solid"/>
              <a:round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5068887">
                <a:defRPr sz="10000">
                  <a:latin typeface="+mn-lt"/>
                  <a:ea typeface="+mn-ea"/>
                  <a:cs typeface="+mn-cs"/>
                  <a:sym typeface="Arial"/>
                </a:defRPr>
              </a:pPr>
              <a:endParaRPr/>
            </a:p>
          </p:txBody>
        </p:sp>
        <p:sp>
          <p:nvSpPr>
            <p:cNvPr id="100" name="Rectangle 75"/>
            <p:cNvSpPr txBox="1"/>
            <p:nvPr/>
          </p:nvSpPr>
          <p:spPr>
            <a:xfrm>
              <a:off x="502919" y="43153"/>
              <a:ext cx="9145390" cy="9353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ctr" defTabSz="5068887">
                <a:defRPr sz="6000" b="1"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r>
                <a:t>Methods</a:t>
              </a:r>
            </a:p>
          </p:txBody>
        </p:sp>
      </p:grpSp>
      <p:grpSp>
        <p:nvGrpSpPr>
          <p:cNvPr id="104" name="Group 40"/>
          <p:cNvGrpSpPr/>
          <p:nvPr/>
        </p:nvGrpSpPr>
        <p:grpSpPr>
          <a:xfrm>
            <a:off x="22547826" y="5306883"/>
            <a:ext cx="9648310" cy="1216153"/>
            <a:chOff x="0" y="0"/>
            <a:chExt cx="9648308" cy="1216152"/>
          </a:xfrm>
        </p:grpSpPr>
        <p:sp>
          <p:nvSpPr>
            <p:cNvPr id="102" name="Rectangle 41"/>
            <p:cNvSpPr/>
            <p:nvPr/>
          </p:nvSpPr>
          <p:spPr>
            <a:xfrm>
              <a:off x="0" y="0"/>
              <a:ext cx="9601200" cy="1216153"/>
            </a:xfrm>
            <a:prstGeom prst="rect">
              <a:avLst/>
            </a:prstGeom>
            <a:solidFill>
              <a:srgbClr val="BADDE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5068887">
                <a:defRPr sz="10000">
                  <a:latin typeface="+mn-lt"/>
                  <a:ea typeface="+mn-ea"/>
                  <a:cs typeface="+mn-cs"/>
                  <a:sym typeface="Arial"/>
                </a:defRPr>
              </a:pPr>
              <a:endParaRPr/>
            </a:p>
          </p:txBody>
        </p:sp>
        <p:sp>
          <p:nvSpPr>
            <p:cNvPr id="103" name="Rectangle 75"/>
            <p:cNvSpPr txBox="1"/>
            <p:nvPr/>
          </p:nvSpPr>
          <p:spPr>
            <a:xfrm>
              <a:off x="502919" y="43153"/>
              <a:ext cx="9145390" cy="9353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ctr" defTabSz="5068887">
                <a:defRPr sz="6000" b="1"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r>
                <a:t>Experiments &amp; Results</a:t>
              </a:r>
            </a:p>
          </p:txBody>
        </p:sp>
      </p:grpSp>
      <p:grpSp>
        <p:nvGrpSpPr>
          <p:cNvPr id="107" name="Group 43"/>
          <p:cNvGrpSpPr/>
          <p:nvPr/>
        </p:nvGrpSpPr>
        <p:grpSpPr>
          <a:xfrm>
            <a:off x="32918400" y="5306883"/>
            <a:ext cx="9648309" cy="1216153"/>
            <a:chOff x="0" y="0"/>
            <a:chExt cx="9648308" cy="1216152"/>
          </a:xfrm>
        </p:grpSpPr>
        <p:sp>
          <p:nvSpPr>
            <p:cNvPr id="105" name="Rectangle 44"/>
            <p:cNvSpPr/>
            <p:nvPr/>
          </p:nvSpPr>
          <p:spPr>
            <a:xfrm>
              <a:off x="0" y="0"/>
              <a:ext cx="9601200" cy="1216153"/>
            </a:xfrm>
            <a:prstGeom prst="rect">
              <a:avLst/>
            </a:prstGeom>
            <a:solidFill>
              <a:srgbClr val="BADDE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5068887">
                <a:defRPr sz="10000">
                  <a:latin typeface="+mn-lt"/>
                  <a:ea typeface="+mn-ea"/>
                  <a:cs typeface="+mn-cs"/>
                  <a:sym typeface="Arial"/>
                </a:defRPr>
              </a:pPr>
              <a:endParaRPr/>
            </a:p>
          </p:txBody>
        </p:sp>
        <p:sp>
          <p:nvSpPr>
            <p:cNvPr id="106" name="Rectangle 75"/>
            <p:cNvSpPr txBox="1"/>
            <p:nvPr/>
          </p:nvSpPr>
          <p:spPr>
            <a:xfrm>
              <a:off x="502919" y="43153"/>
              <a:ext cx="9145390" cy="9353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ctr" defTabSz="5068887">
                <a:defRPr sz="6000" b="1"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r>
                <a:t>Conclusions</a:t>
              </a:r>
            </a:p>
          </p:txBody>
        </p:sp>
      </p:grpSp>
      <p:grpSp>
        <p:nvGrpSpPr>
          <p:cNvPr id="110" name="Group 47"/>
          <p:cNvGrpSpPr/>
          <p:nvPr/>
        </p:nvGrpSpPr>
        <p:grpSpPr>
          <a:xfrm>
            <a:off x="1368426" y="20896507"/>
            <a:ext cx="9648309" cy="1216153"/>
            <a:chOff x="0" y="0"/>
            <a:chExt cx="9648308" cy="1216152"/>
          </a:xfrm>
        </p:grpSpPr>
        <p:sp>
          <p:nvSpPr>
            <p:cNvPr id="108" name="Rectangle 48"/>
            <p:cNvSpPr/>
            <p:nvPr/>
          </p:nvSpPr>
          <p:spPr>
            <a:xfrm>
              <a:off x="0" y="0"/>
              <a:ext cx="9601200" cy="1216153"/>
            </a:xfrm>
            <a:prstGeom prst="rect">
              <a:avLst/>
            </a:prstGeom>
            <a:solidFill>
              <a:srgbClr val="BADDE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5068887">
                <a:defRPr sz="10000">
                  <a:latin typeface="+mn-lt"/>
                  <a:ea typeface="+mn-ea"/>
                  <a:cs typeface="+mn-cs"/>
                  <a:sym typeface="Arial"/>
                </a:defRPr>
              </a:pPr>
              <a:endParaRPr/>
            </a:p>
          </p:txBody>
        </p:sp>
        <p:sp>
          <p:nvSpPr>
            <p:cNvPr id="109" name="Rectangle 75"/>
            <p:cNvSpPr txBox="1"/>
            <p:nvPr/>
          </p:nvSpPr>
          <p:spPr>
            <a:xfrm>
              <a:off x="502919" y="43153"/>
              <a:ext cx="9145390" cy="9353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ctr" defTabSz="5068887">
                <a:defRPr sz="6000" b="1"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r>
                <a:t>Goal of Project</a:t>
              </a:r>
            </a:p>
          </p:txBody>
        </p:sp>
      </p:grpSp>
      <p:grpSp>
        <p:nvGrpSpPr>
          <p:cNvPr id="113" name="Group 53"/>
          <p:cNvGrpSpPr/>
          <p:nvPr/>
        </p:nvGrpSpPr>
        <p:grpSpPr>
          <a:xfrm>
            <a:off x="33169859" y="18194313"/>
            <a:ext cx="9648309" cy="1216153"/>
            <a:chOff x="0" y="0"/>
            <a:chExt cx="9648308" cy="1216152"/>
          </a:xfrm>
        </p:grpSpPr>
        <p:sp>
          <p:nvSpPr>
            <p:cNvPr id="111" name="Rectangle 54"/>
            <p:cNvSpPr/>
            <p:nvPr/>
          </p:nvSpPr>
          <p:spPr>
            <a:xfrm>
              <a:off x="0" y="0"/>
              <a:ext cx="9601200" cy="1216153"/>
            </a:xfrm>
            <a:prstGeom prst="rect">
              <a:avLst/>
            </a:prstGeom>
            <a:solidFill>
              <a:srgbClr val="BADDE1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pPr defTabSz="5068887">
                <a:defRPr sz="10000">
                  <a:latin typeface="+mn-lt"/>
                  <a:ea typeface="+mn-ea"/>
                  <a:cs typeface="+mn-cs"/>
                  <a:sym typeface="Arial"/>
                </a:defRPr>
              </a:pPr>
              <a:endParaRPr/>
            </a:p>
          </p:txBody>
        </p:sp>
        <p:sp>
          <p:nvSpPr>
            <p:cNvPr id="112" name="Rectangle 75"/>
            <p:cNvSpPr txBox="1"/>
            <p:nvPr/>
          </p:nvSpPr>
          <p:spPr>
            <a:xfrm>
              <a:off x="502919" y="43153"/>
              <a:ext cx="9145390" cy="93537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</a:ext>
            </a:extLst>
          </p:spPr>
          <p:txBody>
            <a:bodyPr wrap="square" lIns="45719" tIns="45719" rIns="45719" bIns="45719" numCol="1" anchor="t">
              <a:spAutoFit/>
            </a:bodyPr>
            <a:lstStyle>
              <a:lvl1pPr algn="ctr" defTabSz="5068887">
                <a:defRPr sz="6000" b="1">
                  <a:latin typeface="Times New Roman"/>
                  <a:ea typeface="Times New Roman"/>
                  <a:cs typeface="Times New Roman"/>
                  <a:sym typeface="Times New Roman"/>
                </a:defRPr>
              </a:lvl1pPr>
            </a:lstStyle>
            <a:p>
              <a:r>
                <a:t>References</a:t>
              </a:r>
            </a:p>
          </p:txBody>
        </p:sp>
      </p:grpSp>
      <p:sp>
        <p:nvSpPr>
          <p:cNvPr id="114" name="TextBox 6"/>
          <p:cNvSpPr txBox="1"/>
          <p:nvPr/>
        </p:nvSpPr>
        <p:spPr>
          <a:xfrm>
            <a:off x="1600590" y="23215533"/>
            <a:ext cx="9434074" cy="501675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marL="401052" indent="-401052">
              <a:buSzPct val="100000"/>
              <a:buChar char="•"/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This project aims to develop a robust machine learning pipeline t</a:t>
            </a:r>
            <a:r>
              <a:rPr b="1" dirty="0"/>
              <a:t>o forecast daily unit sales across 54 Favorita grocery stores in Ecuador.</a:t>
            </a:r>
            <a:r>
              <a:rPr dirty="0"/>
              <a:t> By integrating historical sales, holiday events, and macroeconomic data, we seek to overcome the challenges of </a:t>
            </a:r>
            <a:r>
              <a:rPr b="1" dirty="0"/>
              <a:t>zero-inflated data</a:t>
            </a:r>
            <a:r>
              <a:rPr dirty="0"/>
              <a:t> and </a:t>
            </a:r>
            <a:r>
              <a:rPr b="1" dirty="0"/>
              <a:t>complex seasonality</a:t>
            </a:r>
            <a:r>
              <a:rPr dirty="0"/>
              <a:t>.</a:t>
            </a:r>
          </a:p>
        </p:txBody>
      </p:sp>
      <p:sp>
        <p:nvSpPr>
          <p:cNvPr id="115" name="TextBox 8"/>
          <p:cNvSpPr txBox="1"/>
          <p:nvPr/>
        </p:nvSpPr>
        <p:spPr>
          <a:xfrm>
            <a:off x="11511975" y="7116913"/>
            <a:ext cx="10496675" cy="182819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marL="401052" indent="-401052">
              <a:buSzPct val="100000"/>
              <a:buChar char="•"/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b="1" dirty="0"/>
              <a:t>Dataset</a:t>
            </a:r>
            <a:r>
              <a:rPr dirty="0"/>
              <a:t>: "3M+ sales records across 54 stores, 33 product families (2013-2017); supplemental data includes oil prices, holidays, and store metadata”</a:t>
            </a:r>
          </a:p>
          <a:p>
            <a:pPr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endParaRPr dirty="0"/>
          </a:p>
          <a:p>
            <a:pPr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Data Processing: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187668" lvl="3"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Target Transformation: </a:t>
            </a:r>
            <a:r>
              <a:rPr b="0" dirty="0"/>
              <a:t>Applied </a:t>
            </a:r>
            <a:r>
              <a:rPr b="0" i="1" dirty="0"/>
              <a:t>log1p (Log + 1)</a:t>
            </a:r>
            <a:r>
              <a:rPr b="0" dirty="0"/>
              <a:t> to sales data to handle high skewness and prevent negative predictions.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187668" lvl="3"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Imputation:</a:t>
            </a:r>
            <a:r>
              <a:rPr b="0" dirty="0"/>
              <a:t> Forward/Backward filled missing oil prices; handled missing store transactions using median values.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Feature Engineering:</a:t>
            </a:r>
            <a:r>
              <a:rPr b="0" dirty="0"/>
              <a:t>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187668" lvl="3"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Time Features: </a:t>
            </a:r>
            <a:r>
              <a:rPr b="0" dirty="0"/>
              <a:t>Extracted day, month, year, </a:t>
            </a:r>
            <a:r>
              <a:rPr b="0" dirty="0" err="1"/>
              <a:t>day_of_week</a:t>
            </a:r>
            <a:r>
              <a:rPr b="0" dirty="0"/>
              <a:t>, and </a:t>
            </a:r>
            <a:r>
              <a:rPr b="0" dirty="0" err="1"/>
              <a:t>is_payday</a:t>
            </a:r>
            <a:r>
              <a:rPr b="0" dirty="0"/>
              <a:t> (15th/end of month).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187668" lvl="3"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Lag Features: </a:t>
            </a:r>
            <a:r>
              <a:rPr b="0" dirty="0"/>
              <a:t>Created lags of 1, 7, 14, and 28 days to capture autocorrelation.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187668" lvl="3"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Rolling Windows: </a:t>
            </a:r>
            <a:r>
              <a:rPr b="0" dirty="0"/>
              <a:t>Calculated rolling means and standard deviations (7, 14, 28 days) to capture recent trends.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Models:</a:t>
            </a:r>
            <a:r>
              <a:rPr b="0" dirty="0"/>
              <a:t>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187668" lvl="3" indent="-571500">
              <a:buSzPct val="100000"/>
              <a:buFont typeface="Arial"/>
              <a:buChar char="•"/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Trained three Gradient Boosting models: </a:t>
            </a:r>
            <a:r>
              <a:rPr dirty="0" err="1"/>
              <a:t>LightGBM</a:t>
            </a:r>
            <a:r>
              <a:rPr dirty="0"/>
              <a:t>, </a:t>
            </a:r>
            <a:r>
              <a:rPr dirty="0" err="1"/>
              <a:t>XGBoost</a:t>
            </a:r>
            <a:r>
              <a:rPr dirty="0"/>
              <a:t>, and </a:t>
            </a:r>
            <a:r>
              <a:rPr dirty="0" err="1"/>
              <a:t>CatBoost</a:t>
            </a:r>
            <a:r>
              <a:rPr dirty="0"/>
              <a:t>.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187668" lvl="3"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Ensemble:</a:t>
            </a:r>
            <a:r>
              <a:rPr b="0" dirty="0"/>
              <a:t> Final prediction is a weighted average: 0.5 * LGBM + 0.25 * XGB + 0.25 * Cat.</a:t>
            </a:r>
          </a:p>
          <a:p>
            <a:pPr marL="457200" indent="-317500">
              <a:buSzPct val="100000"/>
              <a:buFont typeface="Times Roman"/>
              <a:buChar char="•"/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b="1" dirty="0"/>
              <a:t>Validation Strategy: </a:t>
            </a:r>
            <a:r>
              <a:rPr dirty="0"/>
              <a:t>“Used Time-Series Split (not random K-Fold) to prevent data leakage and simulate real-world forecasting conditions."</a:t>
            </a:r>
          </a:p>
          <a:p>
            <a:pPr defTabSz="457200">
              <a:spcBef>
                <a:spcPts val="1200"/>
              </a:spcBef>
              <a:defRPr sz="1200">
                <a:latin typeface="Times Roman"/>
                <a:ea typeface="Times Roman"/>
                <a:cs typeface="Times Roman"/>
                <a:sym typeface="Times Roman"/>
              </a:defRPr>
            </a:pPr>
            <a:endParaRPr dirty="0"/>
          </a:p>
        </p:txBody>
      </p:sp>
      <p:sp>
        <p:nvSpPr>
          <p:cNvPr id="116" name="TextBox 12"/>
          <p:cNvSpPr txBox="1"/>
          <p:nvPr/>
        </p:nvSpPr>
        <p:spPr>
          <a:xfrm>
            <a:off x="22884248" y="7171835"/>
            <a:ext cx="9478384" cy="56323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marL="571500" indent="-571500">
              <a:buSzPct val="100000"/>
              <a:buFont typeface="Arial"/>
              <a:buChar char="•"/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Model Performance (Validation Set):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363278" lvl="2" indent="-571500">
              <a:buSzPct val="100000"/>
              <a:buFont typeface="Arial"/>
              <a:buChar char="•"/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All three models performed similarly, with </a:t>
            </a:r>
            <a:r>
              <a:rPr dirty="0" err="1"/>
              <a:t>LightGBM</a:t>
            </a:r>
            <a:r>
              <a:rPr dirty="0"/>
              <a:t> showing a slight edge.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363278" lvl="2" indent="-571500">
              <a:buSzPct val="100000"/>
              <a:buFont typeface="Arial"/>
              <a:buChar char="•"/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 err="1"/>
              <a:t>LightGBM</a:t>
            </a:r>
            <a:r>
              <a:rPr dirty="0"/>
              <a:t>: RMSLE = 0.4067 (Best Single Model)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363278" lvl="2" indent="-571500">
              <a:buSzPct val="100000"/>
              <a:buFont typeface="Arial"/>
              <a:buChar char="•"/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 err="1"/>
              <a:t>XGBoost</a:t>
            </a:r>
            <a:r>
              <a:rPr dirty="0"/>
              <a:t>: RMSLE = 0.4087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363278" lvl="2" indent="-571500">
              <a:buSzPct val="100000"/>
              <a:buFont typeface="Arial"/>
              <a:buChar char="•"/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 err="1"/>
              <a:t>CatBoost</a:t>
            </a:r>
            <a:r>
              <a:rPr dirty="0"/>
              <a:t>: RMSLE = 0.4099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363278" lvl="2" indent="-571500">
              <a:buSzPct val="100000"/>
              <a:buFont typeface="Arial"/>
              <a:buChar char="•"/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R² Score: ~0.975 (Explaining 97.5% of variance)</a:t>
            </a:r>
          </a:p>
        </p:txBody>
      </p:sp>
      <p:sp>
        <p:nvSpPr>
          <p:cNvPr id="117" name="TextBox 14"/>
          <p:cNvSpPr txBox="1"/>
          <p:nvPr/>
        </p:nvSpPr>
        <p:spPr>
          <a:xfrm>
            <a:off x="32936801" y="7131739"/>
            <a:ext cx="9611509" cy="111722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marL="571500" indent="-571500">
              <a:buSzPct val="100000"/>
              <a:buFont typeface="Arial"/>
              <a:buChar char="•"/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Feature engineering (specifically rolling windows and lags) was far more impactful than algorithm selection. The ensemble approach stabilized predictions but yielded diminishing returns over the best single model.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571500"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Future Improvements:</a:t>
            </a:r>
            <a:r>
              <a:rPr b="0" dirty="0"/>
              <a:t>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363278" lvl="2"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Hybrid Models: </a:t>
            </a:r>
            <a:r>
              <a:rPr b="0" dirty="0"/>
              <a:t>Combine ARIMA (for linear trends) with </a:t>
            </a:r>
            <a:r>
              <a:rPr b="0" dirty="0" err="1"/>
              <a:t>XGBoost</a:t>
            </a:r>
            <a:r>
              <a:rPr b="0" dirty="0"/>
              <a:t> (for non-linear residuals).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363278" lvl="2"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Deep Learning: </a:t>
            </a:r>
            <a:r>
              <a:rPr b="0" dirty="0"/>
              <a:t>Experiment with LSTMs or Transformers to better capture long-term dependencies and holiday spikes. </a:t>
            </a:r>
            <a:endParaRPr dirty="0">
              <a:latin typeface="+mn-lt"/>
              <a:ea typeface="+mn-ea"/>
              <a:cs typeface="+mn-cs"/>
              <a:sym typeface="Arial"/>
            </a:endParaRPr>
          </a:p>
          <a:p>
            <a:pPr marL="1363278" lvl="2" indent="-571500">
              <a:buSzPct val="100000"/>
              <a:buFont typeface="Arial"/>
              <a:buChar char="•"/>
              <a:defRPr sz="4000" b="1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Holiday Interaction:</a:t>
            </a:r>
            <a:r>
              <a:rPr b="0" dirty="0"/>
              <a:t> specifically engineering features for "Days until next holiday" to anticipate pre-holiday spikes.</a:t>
            </a:r>
          </a:p>
        </p:txBody>
      </p:sp>
      <p:pic>
        <p:nvPicPr>
          <p:cNvPr id="118" name="Picture 3" descr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5400" y="54613"/>
            <a:ext cx="10820400" cy="443857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9" name="Picture 2" descr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11463" y="13513108"/>
            <a:ext cx="8823955" cy="5632312"/>
          </a:xfrm>
          <a:prstGeom prst="rect">
            <a:avLst/>
          </a:prstGeom>
          <a:ln w="12700">
            <a:miter lim="400000"/>
          </a:ln>
        </p:spPr>
      </p:pic>
      <p:pic>
        <p:nvPicPr>
          <p:cNvPr id="120" name="pasted-movie.png" descr="pasted-movi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11975" y="25211305"/>
            <a:ext cx="18910301" cy="6223001"/>
          </a:xfrm>
          <a:prstGeom prst="rect">
            <a:avLst/>
          </a:prstGeom>
          <a:ln w="12700">
            <a:miter lim="400000"/>
          </a:ln>
        </p:spPr>
      </p:pic>
      <p:sp>
        <p:nvSpPr>
          <p:cNvPr id="121" name="[1] LightGBM, &quot;Python-package Introduction,&quot; Available: https://lightgbm.readthedocs.io/en/latest/Python-Intro.html.…"/>
          <p:cNvSpPr txBox="1"/>
          <p:nvPr/>
        </p:nvSpPr>
        <p:spPr>
          <a:xfrm>
            <a:off x="32599847" y="20114255"/>
            <a:ext cx="11823267" cy="111078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45719" rIns="45719">
            <a:spAutoFit/>
          </a:bodyPr>
          <a:lstStyle/>
          <a:p>
            <a:pPr>
              <a:lnSpc>
                <a:spcPct val="120000"/>
              </a:lnSpc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[1] </a:t>
            </a:r>
            <a:r>
              <a:rPr dirty="0" err="1"/>
              <a:t>LightGBM</a:t>
            </a:r>
            <a:r>
              <a:rPr dirty="0"/>
              <a:t>, "Python-package Introduction," Available:</a:t>
            </a:r>
            <a:r>
              <a:rPr lang="en-IN" dirty="0"/>
              <a:t> </a:t>
            </a:r>
            <a:r>
              <a:rPr u="sng" dirty="0">
                <a:solidFill>
                  <a:srgbClr val="0000EE"/>
                </a:solidFill>
                <a:hlinkClick r:id="rId5"/>
              </a:rPr>
              <a:t>https://lightgbm.readthedocs.io/en/latest/Python-Intro.html</a:t>
            </a:r>
            <a:r>
              <a:rPr dirty="0"/>
              <a:t>.</a:t>
            </a:r>
          </a:p>
          <a:p>
            <a:pPr>
              <a:lnSpc>
                <a:spcPct val="120000"/>
              </a:lnSpc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[2] </a:t>
            </a:r>
            <a:r>
              <a:rPr dirty="0" err="1"/>
              <a:t>XGBoost</a:t>
            </a:r>
            <a:r>
              <a:rPr dirty="0"/>
              <a:t> Developers, "</a:t>
            </a:r>
            <a:r>
              <a:rPr dirty="0" err="1"/>
              <a:t>XGBoost</a:t>
            </a:r>
            <a:r>
              <a:rPr dirty="0"/>
              <a:t> Parameters," Available: </a:t>
            </a:r>
            <a:r>
              <a:rPr u="sng" dirty="0">
                <a:solidFill>
                  <a:srgbClr val="0000EE"/>
                </a:solidFill>
                <a:hlinkClick r:id="rId6"/>
              </a:rPr>
              <a:t>https://xgboost.readthedocs.io/en/latest/parameter.html</a:t>
            </a:r>
            <a:r>
              <a:rPr dirty="0"/>
              <a:t>. </a:t>
            </a:r>
          </a:p>
          <a:p>
            <a:pPr>
              <a:lnSpc>
                <a:spcPct val="120000"/>
              </a:lnSpc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[3] Yandex, "Python </a:t>
            </a:r>
            <a:r>
              <a:rPr dirty="0" err="1"/>
              <a:t>Quickstart</a:t>
            </a:r>
            <a:r>
              <a:rPr dirty="0"/>
              <a:t>," </a:t>
            </a:r>
            <a:r>
              <a:rPr dirty="0" err="1"/>
              <a:t>CatBoost</a:t>
            </a:r>
            <a:r>
              <a:rPr dirty="0"/>
              <a:t> </a:t>
            </a:r>
            <a:r>
              <a:rPr dirty="0" err="1"/>
              <a:t>Documentation.Available</a:t>
            </a:r>
            <a:r>
              <a:rPr dirty="0"/>
              <a:t>: </a:t>
            </a:r>
            <a:r>
              <a:rPr u="sng" dirty="0">
                <a:solidFill>
                  <a:srgbClr val="0000EE"/>
                </a:solidFill>
                <a:hlinkClick r:id="rId7"/>
              </a:rPr>
              <a:t>https://catboost.ai/docs/en/concepts/python-quickstart</a:t>
            </a:r>
            <a:r>
              <a:rPr dirty="0"/>
              <a:t>.</a:t>
            </a:r>
          </a:p>
          <a:p>
            <a:pPr>
              <a:lnSpc>
                <a:spcPct val="120000"/>
              </a:lnSpc>
              <a:defRPr sz="4000"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dirty="0"/>
              <a:t>[4] J. Amat Rodrigo and J. Escobar Ortiz, "Modelling time series trend with tree based models," Cienciadedatos.net. Available: </a:t>
            </a:r>
            <a:r>
              <a:rPr u="sng" dirty="0">
                <a:solidFill>
                  <a:srgbClr val="0000EE"/>
                </a:solidFill>
                <a:hlinkClick r:id="rId8"/>
              </a:rPr>
              <a:t>https://cienciadedatos.net/documentos/py49-modelling-time-series-trend-with-tree-based-models</a:t>
            </a:r>
            <a:r>
              <a:rPr dirty="0"/>
              <a:t>.</a:t>
            </a:r>
            <a:endParaRPr dirty="0">
              <a:solidFill>
                <a:srgbClr val="0433FF"/>
              </a:solidFill>
            </a:endParaRPr>
          </a:p>
        </p:txBody>
      </p:sp>
      <p:pic>
        <p:nvPicPr>
          <p:cNvPr id="122" name="pasted-movie.png" descr="pasted-movie.png"/>
          <p:cNvPicPr>
            <a:picLocks noChangeAspect="1"/>
          </p:cNvPicPr>
          <p:nvPr/>
        </p:nvPicPr>
        <p:blipFill>
          <a:blip r:embed="rId9"/>
          <a:srcRect l="66774"/>
          <a:stretch>
            <a:fillRect/>
          </a:stretch>
        </p:blipFill>
        <p:spPr>
          <a:xfrm>
            <a:off x="1778603" y="14017533"/>
            <a:ext cx="8780846" cy="692212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Default Design">
  <a:themeElements>
    <a:clrScheme name="Default Design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8F8F8F"/>
      </a:accent3>
      <a:accent4>
        <a:srgbClr val="707070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Default Design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Default Desig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Off val="44000"/>
          </a:schemeClr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8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G Omega"/>
            <a:ea typeface="CG Omega"/>
            <a:cs typeface="CG Omega"/>
            <a:sym typeface="CG Omeg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8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G Omega"/>
            <a:ea typeface="CG Omega"/>
            <a:cs typeface="CG Omega"/>
            <a:sym typeface="CG Omeg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Default Design">
  <a:themeElements>
    <a:clrScheme name="Default Design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BBE0E3"/>
      </a:accent1>
      <a:accent2>
        <a:srgbClr val="333399"/>
      </a:accent2>
      <a:accent3>
        <a:srgbClr val="8F8F8F"/>
      </a:accent3>
      <a:accent4>
        <a:srgbClr val="707070"/>
      </a:accent4>
      <a:accent5>
        <a:srgbClr val="DAEDEF"/>
      </a:accent5>
      <a:accent6>
        <a:srgbClr val="2D2D8A"/>
      </a:accent6>
      <a:hlink>
        <a:srgbClr val="0000FF"/>
      </a:hlink>
      <a:folHlink>
        <a:srgbClr val="FF00FF"/>
      </a:folHlink>
    </a:clrScheme>
    <a:fontScheme name="Default Design">
      <a:majorFont>
        <a:latin typeface="Helvetica"/>
        <a:ea typeface="Helvetica"/>
        <a:cs typeface="Helvetica"/>
      </a:majorFont>
      <a:minorFont>
        <a:latin typeface="Arial"/>
        <a:ea typeface="Arial"/>
        <a:cs typeface="Arial"/>
      </a:minorFont>
    </a:fontScheme>
    <a:fmtScheme name="Default Desig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3">
            <a:lumOff val="44000"/>
          </a:schemeClr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8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G Omega"/>
            <a:ea typeface="CG Omega"/>
            <a:cs typeface="CG Omega"/>
            <a:sym typeface="CG Omeg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8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CG Omega"/>
            <a:ea typeface="CG Omega"/>
            <a:cs typeface="CG Omega"/>
            <a:sym typeface="CG Omeg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601</Words>
  <Application>Microsoft Office PowerPoint</Application>
  <PresentationFormat>Custom</PresentationFormat>
  <Paragraphs>43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CG Omega</vt:lpstr>
      <vt:lpstr>Goudy Old Style</vt:lpstr>
      <vt:lpstr>Times Roman</vt:lpstr>
      <vt:lpstr>Default Design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 Karthikeyan S.</cp:lastModifiedBy>
  <cp:revision>1</cp:revision>
  <dcterms:modified xsi:type="dcterms:W3CDTF">2025-12-11T00:13:11Z</dcterms:modified>
</cp:coreProperties>
</file>